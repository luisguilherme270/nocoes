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e Vietnam Ultra-Bold Italics" charset="1" panose="00000900000000000000"/>
      <p:regular r:id="rId16"/>
    </p:embeddedFont>
    <p:embeddedFont>
      <p:font typeface="Arial Bold" charset="1" panose="020B0704020202020204"/>
      <p:regular r:id="rId17"/>
    </p:embeddedFont>
    <p:embeddedFont>
      <p:font typeface="Canva Sans Bold" charset="1" panose="020B0803030501040103"/>
      <p:regular r:id="rId18"/>
    </p:embeddedFont>
    <p:embeddedFont>
      <p:font typeface="Arial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9.xml" Type="http://schemas.openxmlformats.org/officeDocument/2006/relationships/slid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9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slide3.xml" Type="http://schemas.openxmlformats.org/officeDocument/2006/relationships/slide"/><Relationship Id="rId8" Target="slide4.xml" Type="http://schemas.openxmlformats.org/officeDocument/2006/relationships/slide"/><Relationship Id="rId9" Target="slide8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slide2.xml" Type="http://schemas.openxmlformats.org/officeDocument/2006/relationships/slide"/><Relationship Id="rId7" Target="../media/image9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9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slide2.xml" Type="http://schemas.openxmlformats.org/officeDocument/2006/relationships/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9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slide2.xml" Type="http://schemas.openxmlformats.org/officeDocument/2006/relationships/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9.png" Type="http://schemas.openxmlformats.org/officeDocument/2006/relationships/image"/><Relationship Id="rId5" Target="../media/image22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slide2.xml" Type="http://schemas.openxmlformats.org/officeDocument/2006/relationships/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9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23.png" Type="http://schemas.openxmlformats.org/officeDocument/2006/relationships/image"/><Relationship Id="rId8" Target="slide2.xml" Type="http://schemas.openxmlformats.org/officeDocument/2006/relationships/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9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24.png" Type="http://schemas.openxmlformats.org/officeDocument/2006/relationships/image"/><Relationship Id="rId8" Target="slide2.xml" Type="http://schemas.openxmlformats.org/officeDocument/2006/relationships/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slide2.xml" Type="http://schemas.openxmlformats.org/officeDocument/2006/relationships/slide"/><Relationship Id="rId5" Target="https://sistemas.anatel.gov.br/anexar-api/publico/anexos/download/ef259d4d57d99b909a97996592360f30" TargetMode="External" Type="http://schemas.openxmlformats.org/officeDocument/2006/relationships/hyperlink"/><Relationship Id="rId6" Target="https://revistaoeste.com/economia/justica-suspende-leilao-de-700-mhz-da-anatel/" TargetMode="External" Type="http://schemas.openxmlformats.org/officeDocument/2006/relationships/hyperlink"/><Relationship Id="rId7" Target="../media/image9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9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slide2.xml" Type="http://schemas.openxmlformats.org/officeDocument/2006/relationships/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67707" y="3420170"/>
            <a:ext cx="4601118" cy="3446650"/>
          </a:xfrm>
          <a:custGeom>
            <a:avLst/>
            <a:gdLst/>
            <a:ahLst/>
            <a:cxnLst/>
            <a:rect r="r" b="b" t="t" l="l"/>
            <a:pathLst>
              <a:path h="3446650" w="4601118">
                <a:moveTo>
                  <a:pt x="0" y="0"/>
                </a:moveTo>
                <a:lnTo>
                  <a:pt x="4601118" y="0"/>
                </a:lnTo>
                <a:lnTo>
                  <a:pt x="4601118" y="3446650"/>
                </a:lnTo>
                <a:lnTo>
                  <a:pt x="0" y="3446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7" t="0" r="-7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527190"/>
            <a:ext cx="16230600" cy="731110"/>
          </a:xfrm>
          <a:custGeom>
            <a:avLst/>
            <a:gdLst/>
            <a:ahLst/>
            <a:cxnLst/>
            <a:rect r="r" b="b" t="t" l="l"/>
            <a:pathLst>
              <a:path h="731110" w="16230600">
                <a:moveTo>
                  <a:pt x="0" y="0"/>
                </a:moveTo>
                <a:lnTo>
                  <a:pt x="16230600" y="0"/>
                </a:lnTo>
                <a:lnTo>
                  <a:pt x="16230600" y="731110"/>
                </a:lnTo>
                <a:lnTo>
                  <a:pt x="0" y="731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4054" y="2009384"/>
            <a:ext cx="5362165" cy="1585722"/>
          </a:xfrm>
          <a:custGeom>
            <a:avLst/>
            <a:gdLst/>
            <a:ahLst/>
            <a:cxnLst/>
            <a:rect r="r" b="b" t="t" l="l"/>
            <a:pathLst>
              <a:path h="1585722" w="5362165">
                <a:moveTo>
                  <a:pt x="0" y="0"/>
                </a:moveTo>
                <a:lnTo>
                  <a:pt x="5362165" y="0"/>
                </a:lnTo>
                <a:lnTo>
                  <a:pt x="5362165" y="1585722"/>
                </a:lnTo>
                <a:lnTo>
                  <a:pt x="0" y="15857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3767" y="2487463"/>
            <a:ext cx="4925882" cy="763133"/>
          </a:xfrm>
          <a:custGeom>
            <a:avLst/>
            <a:gdLst/>
            <a:ahLst/>
            <a:cxnLst/>
            <a:rect r="r" b="b" t="t" l="l"/>
            <a:pathLst>
              <a:path h="763133" w="4925882">
                <a:moveTo>
                  <a:pt x="0" y="0"/>
                </a:moveTo>
                <a:lnTo>
                  <a:pt x="4925882" y="0"/>
                </a:lnTo>
                <a:lnTo>
                  <a:pt x="4925882" y="763134"/>
                </a:lnTo>
                <a:lnTo>
                  <a:pt x="0" y="7631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630166" cy="1630166"/>
            <a:chOff x="0" y="0"/>
            <a:chExt cx="2173554" cy="21735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3605" cy="2173605"/>
            </a:xfrm>
            <a:custGeom>
              <a:avLst/>
              <a:gdLst/>
              <a:ahLst/>
              <a:cxnLst/>
              <a:rect r="r" b="b" t="t" l="l"/>
              <a:pathLst>
                <a:path h="2173605" w="2173605">
                  <a:moveTo>
                    <a:pt x="0" y="0"/>
                  </a:moveTo>
                  <a:lnTo>
                    <a:pt x="2173605" y="0"/>
                  </a:lnTo>
                  <a:lnTo>
                    <a:pt x="2173605" y="2173605"/>
                  </a:lnTo>
                  <a:lnTo>
                    <a:pt x="0" y="2173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2" b="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32142" y="7690923"/>
            <a:ext cx="10529888" cy="54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b="true" sz="4123" i="true" spc="225">
                <a:solidFill>
                  <a:srgbClr val="FFFFFF"/>
                </a:solidFill>
                <a:latin typeface="Be Vietnam Ultra-Bold Italics"/>
                <a:ea typeface="Be Vietnam Ultra-Bold Italics"/>
                <a:cs typeface="Be Vietnam Ultra-Bold Italics"/>
                <a:sym typeface="Be Vietnam Ultra-Bold Italics"/>
              </a:rPr>
              <a:t> Decisões tomadas pela parte Judicial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2142" y="4424743"/>
            <a:ext cx="10521791" cy="259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71"/>
              </a:lnSpc>
            </a:pPr>
            <a:r>
              <a:rPr lang="en-US" b="true" sz="10471" spc="596">
                <a:solidFill>
                  <a:srgbClr val="00CC08"/>
                </a:solidFill>
                <a:latin typeface="Arial Bold"/>
                <a:ea typeface="Arial Bold"/>
                <a:cs typeface="Arial Bold"/>
                <a:sym typeface="Arial Bold"/>
              </a:rPr>
              <a:t>NOÇÕES DE LEGISLAÇÃO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2164" y="-182147"/>
            <a:ext cx="18632338" cy="3479978"/>
          </a:xfrm>
          <a:custGeom>
            <a:avLst/>
            <a:gdLst/>
            <a:ahLst/>
            <a:cxnLst/>
            <a:rect r="r" b="b" t="t" l="l"/>
            <a:pathLst>
              <a:path h="3479978" w="18632338">
                <a:moveTo>
                  <a:pt x="0" y="0"/>
                </a:moveTo>
                <a:lnTo>
                  <a:pt x="18632338" y="0"/>
                </a:lnTo>
                <a:lnTo>
                  <a:pt x="18632338" y="3479978"/>
                </a:lnTo>
                <a:lnTo>
                  <a:pt x="0" y="347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630166" cy="1630166"/>
            <a:chOff x="0" y="0"/>
            <a:chExt cx="2173554" cy="21735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3605" cy="2173605"/>
            </a:xfrm>
            <a:custGeom>
              <a:avLst/>
              <a:gdLst/>
              <a:ahLst/>
              <a:cxnLst/>
              <a:rect r="r" b="b" t="t" l="l"/>
              <a:pathLst>
                <a:path h="2173605" w="2173605">
                  <a:moveTo>
                    <a:pt x="0" y="0"/>
                  </a:moveTo>
                  <a:lnTo>
                    <a:pt x="2173605" y="0"/>
                  </a:lnTo>
                  <a:lnTo>
                    <a:pt x="2173605" y="2173605"/>
                  </a:lnTo>
                  <a:lnTo>
                    <a:pt x="0" y="2173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2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15083" y="5232635"/>
            <a:ext cx="413899" cy="378904"/>
          </a:xfrm>
          <a:custGeom>
            <a:avLst/>
            <a:gdLst/>
            <a:ahLst/>
            <a:cxnLst/>
            <a:rect r="r" b="b" t="t" l="l"/>
            <a:pathLst>
              <a:path h="378904" w="413899">
                <a:moveTo>
                  <a:pt x="0" y="0"/>
                </a:moveTo>
                <a:lnTo>
                  <a:pt x="413899" y="0"/>
                </a:lnTo>
                <a:lnTo>
                  <a:pt x="413899" y="378904"/>
                </a:lnTo>
                <a:lnTo>
                  <a:pt x="0" y="3789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5083" y="6692094"/>
            <a:ext cx="413899" cy="378905"/>
          </a:xfrm>
          <a:custGeom>
            <a:avLst/>
            <a:gdLst/>
            <a:ahLst/>
            <a:cxnLst/>
            <a:rect r="r" b="b" t="t" l="l"/>
            <a:pathLst>
              <a:path h="378905" w="413899">
                <a:moveTo>
                  <a:pt x="0" y="0"/>
                </a:moveTo>
                <a:lnTo>
                  <a:pt x="413899" y="0"/>
                </a:lnTo>
                <a:lnTo>
                  <a:pt x="413899" y="378904"/>
                </a:lnTo>
                <a:lnTo>
                  <a:pt x="0" y="3789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70933" y="4740211"/>
            <a:ext cx="4081977" cy="84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52"/>
              </a:lnSpc>
            </a:pPr>
            <a:r>
              <a:rPr lang="en-US" b="true" sz="4568" spc="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7" action="ppaction://hlinksldjump"/>
              </a:rPr>
              <a:t>Introdução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3828" y="6201813"/>
            <a:ext cx="5451119" cy="84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52"/>
              </a:lnSpc>
            </a:pPr>
            <a:r>
              <a:rPr lang="en-US" b="true" sz="4568" spc="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8" action="ppaction://hlinksldjump"/>
              </a:rPr>
              <a:t>Judicial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814957" y="5232635"/>
            <a:ext cx="413899" cy="378904"/>
          </a:xfrm>
          <a:custGeom>
            <a:avLst/>
            <a:gdLst/>
            <a:ahLst/>
            <a:cxnLst/>
            <a:rect r="r" b="b" t="t" l="l"/>
            <a:pathLst>
              <a:path h="378904" w="413899">
                <a:moveTo>
                  <a:pt x="0" y="0"/>
                </a:moveTo>
                <a:lnTo>
                  <a:pt x="413899" y="0"/>
                </a:lnTo>
                <a:lnTo>
                  <a:pt x="413899" y="378904"/>
                </a:lnTo>
                <a:lnTo>
                  <a:pt x="0" y="3789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10117" y="910333"/>
            <a:ext cx="6667767" cy="149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760"/>
              </a:lnSpc>
            </a:pPr>
            <a:r>
              <a:rPr lang="en-US" b="true" sz="10500" spc="15">
                <a:solidFill>
                  <a:srgbClr val="00CC08"/>
                </a:solidFill>
                <a:latin typeface="Arial Bold"/>
                <a:ea typeface="Arial Bold"/>
                <a:cs typeface="Arial Bold"/>
                <a:sym typeface="Arial Bold"/>
              </a:rPr>
              <a:t>SUMÁRIO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46452" y="4865761"/>
            <a:ext cx="2966561" cy="798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7"/>
              </a:lnSpc>
            </a:pPr>
            <a:r>
              <a:rPr lang="en-US" b="true" sz="456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9" action="ppaction://hlinksldjump"/>
              </a:rPr>
              <a:t>Conclusão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814957" y="6634944"/>
            <a:ext cx="413899" cy="378905"/>
          </a:xfrm>
          <a:custGeom>
            <a:avLst/>
            <a:gdLst/>
            <a:ahLst/>
            <a:cxnLst/>
            <a:rect r="r" b="b" t="t" l="l"/>
            <a:pathLst>
              <a:path h="378905" w="413899">
                <a:moveTo>
                  <a:pt x="0" y="0"/>
                </a:moveTo>
                <a:lnTo>
                  <a:pt x="413899" y="0"/>
                </a:lnTo>
                <a:lnTo>
                  <a:pt x="413899" y="378904"/>
                </a:lnTo>
                <a:lnTo>
                  <a:pt x="0" y="3789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346452" y="6280299"/>
            <a:ext cx="4652315" cy="77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b="true" sz="45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10" action="ppaction://hlinksldjump"/>
              </a:rPr>
              <a:t>Referências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95356" y="9057494"/>
            <a:ext cx="16242382" cy="702526"/>
          </a:xfrm>
          <a:custGeom>
            <a:avLst/>
            <a:gdLst/>
            <a:ahLst/>
            <a:cxnLst/>
            <a:rect r="r" b="b" t="t" l="l"/>
            <a:pathLst>
              <a:path h="702526" w="16242382">
                <a:moveTo>
                  <a:pt x="0" y="0"/>
                </a:moveTo>
                <a:lnTo>
                  <a:pt x="16242382" y="0"/>
                </a:lnTo>
                <a:lnTo>
                  <a:pt x="16242382" y="702526"/>
                </a:lnTo>
                <a:lnTo>
                  <a:pt x="0" y="7025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477883" y="4827784"/>
            <a:ext cx="4213641" cy="4635008"/>
          </a:xfrm>
          <a:custGeom>
            <a:avLst/>
            <a:gdLst/>
            <a:ahLst/>
            <a:cxnLst/>
            <a:rect r="r" b="b" t="t" l="l"/>
            <a:pathLst>
              <a:path h="4635008" w="4213641">
                <a:moveTo>
                  <a:pt x="0" y="0"/>
                </a:moveTo>
                <a:lnTo>
                  <a:pt x="4213641" y="0"/>
                </a:lnTo>
                <a:lnTo>
                  <a:pt x="4213641" y="4635008"/>
                </a:lnTo>
                <a:lnTo>
                  <a:pt x="0" y="4635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30" t="0" r="-3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44656"/>
            <a:ext cx="18288000" cy="3479978"/>
          </a:xfrm>
          <a:custGeom>
            <a:avLst/>
            <a:gdLst/>
            <a:ahLst/>
            <a:cxnLst/>
            <a:rect r="r" b="b" t="t" l="l"/>
            <a:pathLst>
              <a:path h="3479978" w="18288000">
                <a:moveTo>
                  <a:pt x="0" y="0"/>
                </a:moveTo>
                <a:lnTo>
                  <a:pt x="18288000" y="0"/>
                </a:lnTo>
                <a:lnTo>
                  <a:pt x="18288000" y="3479978"/>
                </a:lnTo>
                <a:lnTo>
                  <a:pt x="0" y="347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793265"/>
            <a:ext cx="4355659" cy="4772139"/>
          </a:xfrm>
          <a:custGeom>
            <a:avLst/>
            <a:gdLst/>
            <a:ahLst/>
            <a:cxnLst/>
            <a:rect r="r" b="b" t="t" l="l"/>
            <a:pathLst>
              <a:path h="4772139" w="4355659">
                <a:moveTo>
                  <a:pt x="0" y="0"/>
                </a:moveTo>
                <a:lnTo>
                  <a:pt x="4355659" y="0"/>
                </a:lnTo>
                <a:lnTo>
                  <a:pt x="4355659" y="4772139"/>
                </a:lnTo>
                <a:lnTo>
                  <a:pt x="0" y="47721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0" r="0" b="-2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21816" y="1352550"/>
            <a:ext cx="9037588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500"/>
              </a:lnSpc>
            </a:pPr>
            <a:r>
              <a:rPr lang="en-US" b="true" sz="10500">
                <a:solidFill>
                  <a:srgbClr val="00CC08"/>
                </a:solidFill>
                <a:latin typeface="Arial Bold"/>
                <a:ea typeface="Arial Bold"/>
                <a:cs typeface="Arial Bold"/>
                <a:sym typeface="Arial Bold"/>
                <a:hlinkClick r:id="rId6" action="ppaction://hlinksldjump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17682" y="5057775"/>
            <a:ext cx="11120056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Este trabalho tem como objetivo encontrar e trazer informações acerca de decisões que podem afetar empresas e pessoas. Dessa forma o trabalho irá apresentar decisões tomadas pela parte judiciária dos três poderes do Estado, trazendo causas e um possível efeito gerado por tal decisão 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427321" cy="1427321"/>
            <a:chOff x="0" y="0"/>
            <a:chExt cx="1903095" cy="19030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3095" cy="1903095"/>
            </a:xfrm>
            <a:custGeom>
              <a:avLst/>
              <a:gdLst/>
              <a:ahLst/>
              <a:cxnLst/>
              <a:rect r="r" b="b" t="t" l="l"/>
              <a:pathLst>
                <a:path h="1903095" w="1903095">
                  <a:moveTo>
                    <a:pt x="0" y="0"/>
                  </a:moveTo>
                  <a:lnTo>
                    <a:pt x="1903095" y="0"/>
                  </a:lnTo>
                  <a:lnTo>
                    <a:pt x="1903095" y="1903095"/>
                  </a:lnTo>
                  <a:lnTo>
                    <a:pt x="0" y="1903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95356" y="9057494"/>
            <a:ext cx="16242382" cy="702526"/>
          </a:xfrm>
          <a:custGeom>
            <a:avLst/>
            <a:gdLst/>
            <a:ahLst/>
            <a:cxnLst/>
            <a:rect r="r" b="b" t="t" l="l"/>
            <a:pathLst>
              <a:path h="702526" w="16242382">
                <a:moveTo>
                  <a:pt x="0" y="0"/>
                </a:moveTo>
                <a:lnTo>
                  <a:pt x="16242382" y="0"/>
                </a:lnTo>
                <a:lnTo>
                  <a:pt x="16242382" y="702526"/>
                </a:lnTo>
                <a:lnTo>
                  <a:pt x="0" y="7025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44656"/>
            <a:ext cx="18288000" cy="3479978"/>
          </a:xfrm>
          <a:custGeom>
            <a:avLst/>
            <a:gdLst/>
            <a:ahLst/>
            <a:cxnLst/>
            <a:rect r="r" b="b" t="t" l="l"/>
            <a:pathLst>
              <a:path h="3479978" w="18288000">
                <a:moveTo>
                  <a:pt x="0" y="0"/>
                </a:moveTo>
                <a:lnTo>
                  <a:pt x="18288000" y="0"/>
                </a:lnTo>
                <a:lnTo>
                  <a:pt x="18288000" y="3479978"/>
                </a:lnTo>
                <a:lnTo>
                  <a:pt x="0" y="347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427321" cy="1427321"/>
            <a:chOff x="0" y="0"/>
            <a:chExt cx="1903095" cy="19030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3095" cy="1903095"/>
            </a:xfrm>
            <a:custGeom>
              <a:avLst/>
              <a:gdLst/>
              <a:ahLst/>
              <a:cxnLst/>
              <a:rect r="r" b="b" t="t" l="l"/>
              <a:pathLst>
                <a:path h="1903095" w="1903095">
                  <a:moveTo>
                    <a:pt x="0" y="0"/>
                  </a:moveTo>
                  <a:lnTo>
                    <a:pt x="1903095" y="0"/>
                  </a:lnTo>
                  <a:lnTo>
                    <a:pt x="1903095" y="1903095"/>
                  </a:lnTo>
                  <a:lnTo>
                    <a:pt x="0" y="1903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95356" y="9057494"/>
            <a:ext cx="16242382" cy="702526"/>
          </a:xfrm>
          <a:custGeom>
            <a:avLst/>
            <a:gdLst/>
            <a:ahLst/>
            <a:cxnLst/>
            <a:rect r="r" b="b" t="t" l="l"/>
            <a:pathLst>
              <a:path h="702526" w="16242382">
                <a:moveTo>
                  <a:pt x="0" y="0"/>
                </a:moveTo>
                <a:lnTo>
                  <a:pt x="16242382" y="0"/>
                </a:lnTo>
                <a:lnTo>
                  <a:pt x="16242382" y="702526"/>
                </a:lnTo>
                <a:lnTo>
                  <a:pt x="0" y="7025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339843"/>
            <a:ext cx="1621155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600" spc="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Inseguranças Jurídicas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69365" y="1037511"/>
            <a:ext cx="614928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10500">
                <a:solidFill>
                  <a:srgbClr val="00CC08"/>
                </a:solidFill>
                <a:latin typeface="Arial Bold"/>
                <a:ea typeface="Arial Bold"/>
                <a:cs typeface="Arial Bold"/>
                <a:sym typeface="Arial Bold"/>
                <a:hlinkClick r:id="rId7" action="ppaction://hlinksldjump"/>
              </a:rPr>
              <a:t>JUDICIAL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80961" y="4253308"/>
            <a:ext cx="13726087" cy="380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0"/>
              </a:lnSpc>
            </a:pPr>
            <a:r>
              <a:rPr lang="en-US" sz="2500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a incerteza em relação às leis e normas regulatórias, gerando dúvidas e confusão na hora de empresas e cidadãos tomarem decisões estratégicas.</a:t>
            </a:r>
          </a:p>
          <a:p>
            <a:pPr algn="just">
              <a:lnSpc>
                <a:spcPts val="3750"/>
              </a:lnSpc>
            </a:pPr>
            <a:r>
              <a:rPr lang="en-US" sz="2500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Elas podem ser por diferentes formas sendo:</a:t>
            </a:r>
          </a:p>
          <a:p>
            <a:pPr algn="just" marL="539754" indent="-269877" lvl="1">
              <a:lnSpc>
                <a:spcPts val="3750"/>
              </a:lnSpc>
              <a:buFont typeface="Arial"/>
              <a:buChar char="•"/>
            </a:pPr>
            <a:r>
              <a:rPr lang="en-US" sz="2500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Instabilidade Legislativa: Regras e leis que mudam de forma frequente e abrupta;</a:t>
            </a:r>
          </a:p>
          <a:p>
            <a:pPr algn="just" marL="539754" indent="-269877" lvl="1">
              <a:lnSpc>
                <a:spcPts val="3750"/>
              </a:lnSpc>
              <a:buFont typeface="Arial"/>
              <a:buChar char="•"/>
            </a:pPr>
            <a:r>
              <a:rPr lang="en-US" sz="2500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Decisões Judiciais Contraditórias: Falta de um padrão claro nos julgamentos (um juiz permite, outro proíbe);</a:t>
            </a:r>
          </a:p>
          <a:p>
            <a:pPr algn="just" marL="539754" indent="-269877" lvl="1">
              <a:lnSpc>
                <a:spcPts val="3750"/>
              </a:lnSpc>
              <a:buFont typeface="Arial"/>
              <a:buChar char="•"/>
            </a:pPr>
            <a:r>
              <a:rPr lang="en-US" sz="2500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Aumento da Burocracia: Complexidade excessiva que dificulta o entendimento do que é certo ou errado.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40232" y="4065799"/>
            <a:ext cx="13407536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O Bloqueio Judicial: O leilão da faixa de 700MHz, foi suspenso temporariamente apos mandado da Justiça Federal (mandado de segurança solicitado pela TelComp).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Argumento da TelComp: As regras do leilão limitou a disputa ao dar preferências para empresas regionais na 1 rodada.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Defesa Da Anatel: A regra buscar evitar grandes Monopólios aprovado previamente pelo Tribunal de Contas da União (TCU).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Consequência gerada: O processo paralisado na Justiça, causa pausas nos investimentos, atrasando a chegada na internet em áreas rurais.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-144656"/>
            <a:ext cx="18288000" cy="3479978"/>
          </a:xfrm>
          <a:custGeom>
            <a:avLst/>
            <a:gdLst/>
            <a:ahLst/>
            <a:cxnLst/>
            <a:rect r="r" b="b" t="t" l="l"/>
            <a:pathLst>
              <a:path h="3479978" w="18288000">
                <a:moveTo>
                  <a:pt x="0" y="0"/>
                </a:moveTo>
                <a:lnTo>
                  <a:pt x="18288000" y="0"/>
                </a:lnTo>
                <a:lnTo>
                  <a:pt x="18288000" y="3479978"/>
                </a:lnTo>
                <a:lnTo>
                  <a:pt x="0" y="347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47750" y="2218611"/>
            <a:ext cx="1621155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Anatel suspende temporariamente leilão da faixa de 700 MHz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427321" cy="1427321"/>
            <a:chOff x="0" y="0"/>
            <a:chExt cx="1903095" cy="19030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3095" cy="1903095"/>
            </a:xfrm>
            <a:custGeom>
              <a:avLst/>
              <a:gdLst/>
              <a:ahLst/>
              <a:cxnLst/>
              <a:rect r="r" b="b" t="t" l="l"/>
              <a:pathLst>
                <a:path h="1903095" w="1903095">
                  <a:moveTo>
                    <a:pt x="0" y="0"/>
                  </a:moveTo>
                  <a:lnTo>
                    <a:pt x="1903095" y="0"/>
                  </a:lnTo>
                  <a:lnTo>
                    <a:pt x="1903095" y="1903095"/>
                  </a:lnTo>
                  <a:lnTo>
                    <a:pt x="0" y="1903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95356" y="9057494"/>
            <a:ext cx="16242382" cy="702526"/>
          </a:xfrm>
          <a:custGeom>
            <a:avLst/>
            <a:gdLst/>
            <a:ahLst/>
            <a:cxnLst/>
            <a:rect r="r" b="b" t="t" l="l"/>
            <a:pathLst>
              <a:path h="702526" w="16242382">
                <a:moveTo>
                  <a:pt x="0" y="0"/>
                </a:moveTo>
                <a:lnTo>
                  <a:pt x="16242382" y="0"/>
                </a:lnTo>
                <a:lnTo>
                  <a:pt x="16242382" y="702526"/>
                </a:lnTo>
                <a:lnTo>
                  <a:pt x="0" y="7025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69360" y="875586"/>
            <a:ext cx="614928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10500">
                <a:solidFill>
                  <a:srgbClr val="00CC08"/>
                </a:solidFill>
                <a:latin typeface="Arial Bold"/>
                <a:ea typeface="Arial Bold"/>
                <a:cs typeface="Arial Bold"/>
                <a:sym typeface="Arial Bold"/>
                <a:hlinkClick r:id="rId7" action="ppaction://hlinksldjump"/>
              </a:rPr>
              <a:t>JUDICIAL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44656"/>
            <a:ext cx="18288000" cy="3479978"/>
          </a:xfrm>
          <a:custGeom>
            <a:avLst/>
            <a:gdLst/>
            <a:ahLst/>
            <a:cxnLst/>
            <a:rect r="r" b="b" t="t" l="l"/>
            <a:pathLst>
              <a:path h="3479978" w="18288000">
                <a:moveTo>
                  <a:pt x="0" y="0"/>
                </a:moveTo>
                <a:lnTo>
                  <a:pt x="18288000" y="0"/>
                </a:lnTo>
                <a:lnTo>
                  <a:pt x="18288000" y="3479978"/>
                </a:lnTo>
                <a:lnTo>
                  <a:pt x="0" y="347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427321" cy="1427321"/>
            <a:chOff x="0" y="0"/>
            <a:chExt cx="1903095" cy="19030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3095" cy="1903095"/>
            </a:xfrm>
            <a:custGeom>
              <a:avLst/>
              <a:gdLst/>
              <a:ahLst/>
              <a:cxnLst/>
              <a:rect r="r" b="b" t="t" l="l"/>
              <a:pathLst>
                <a:path h="1903095" w="1903095">
                  <a:moveTo>
                    <a:pt x="0" y="0"/>
                  </a:moveTo>
                  <a:lnTo>
                    <a:pt x="1903095" y="0"/>
                  </a:lnTo>
                  <a:lnTo>
                    <a:pt x="1903095" y="1903095"/>
                  </a:lnTo>
                  <a:lnTo>
                    <a:pt x="0" y="1903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98047" y="3859117"/>
            <a:ext cx="4905737" cy="5549640"/>
          </a:xfrm>
          <a:custGeom>
            <a:avLst/>
            <a:gdLst/>
            <a:ahLst/>
            <a:cxnLst/>
            <a:rect r="r" b="b" t="t" l="l"/>
            <a:pathLst>
              <a:path h="5549640" w="4905737">
                <a:moveTo>
                  <a:pt x="0" y="0"/>
                </a:moveTo>
                <a:lnTo>
                  <a:pt x="4905737" y="0"/>
                </a:lnTo>
                <a:lnTo>
                  <a:pt x="4905737" y="5549640"/>
                </a:lnTo>
                <a:lnTo>
                  <a:pt x="0" y="5549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25" t="0" r="-750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5356" y="9057494"/>
            <a:ext cx="16242382" cy="702526"/>
          </a:xfrm>
          <a:custGeom>
            <a:avLst/>
            <a:gdLst/>
            <a:ahLst/>
            <a:cxnLst/>
            <a:rect r="r" b="b" t="t" l="l"/>
            <a:pathLst>
              <a:path h="702526" w="16242382">
                <a:moveTo>
                  <a:pt x="0" y="0"/>
                </a:moveTo>
                <a:lnTo>
                  <a:pt x="16242382" y="0"/>
                </a:lnTo>
                <a:lnTo>
                  <a:pt x="16242382" y="702526"/>
                </a:lnTo>
                <a:lnTo>
                  <a:pt x="0" y="7025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21971" y="2495290"/>
            <a:ext cx="6044059" cy="5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isso afeta as empresas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07690" y="3591301"/>
            <a:ext cx="13375515" cy="5124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534" indent="-269767" lvl="1">
              <a:lnSpc>
                <a:spcPts val="3748"/>
              </a:lnSpc>
              <a:buFont typeface="Arial"/>
              <a:buChar char="•"/>
            </a:pPr>
            <a:r>
              <a:rPr lang="en-US" sz="2499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Quebra de Cronograma de Investimentos: A paralisação congela as projetos definidos de expansão de redes. As empresas ficam impedidas de poderem iniciar o planejamento de aplicação da cobertura de 50Mbps, travando a expansão digital para municipios isolados e nas principais rodovias federais.</a:t>
            </a:r>
          </a:p>
          <a:p>
            <a:pPr algn="l" marL="539534" indent="-269767" lvl="1">
              <a:lnSpc>
                <a:spcPts val="3748"/>
              </a:lnSpc>
              <a:buFont typeface="Arial"/>
              <a:buChar char="•"/>
            </a:pPr>
            <a:r>
              <a:rPr lang="en-US" sz="2499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Prejuízo com Capital Bloqueado: As empresas sofrem perdas financeiras ao manterem a Garantia de Manutenção Proposta (seguro-garantia) ativo aos bancos. Com a paralisação do leilão, as empresas pagam por um seguro parado que não sabem se terá um retorno financeiro aceitável. </a:t>
            </a:r>
          </a:p>
          <a:p>
            <a:pPr algn="l" marL="539534" indent="-269767" lvl="1">
              <a:lnSpc>
                <a:spcPts val="3748"/>
              </a:lnSpc>
              <a:buFont typeface="Arial"/>
              <a:buChar char="•"/>
            </a:pPr>
            <a:r>
              <a:rPr lang="en-US" sz="2499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Barreira ao Crescimento Regional: as operadoras menores (regionais) perdem a oportunidade de poderem operar na faixa de 700MHz, isso traz um atraso de consolidação no mercado para que elas possam competir com as grandes empresas operantes.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69365" y="1037511"/>
            <a:ext cx="614928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10500">
                <a:solidFill>
                  <a:srgbClr val="00CC08"/>
                </a:solidFill>
                <a:latin typeface="Arial Bold"/>
                <a:ea typeface="Arial Bold"/>
                <a:cs typeface="Arial Bold"/>
                <a:sym typeface="Arial Bold"/>
                <a:hlinkClick r:id="rId8" action="ppaction://hlinksldjump"/>
              </a:rPr>
              <a:t>JUDICIAL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44656"/>
            <a:ext cx="18288000" cy="3479978"/>
          </a:xfrm>
          <a:custGeom>
            <a:avLst/>
            <a:gdLst/>
            <a:ahLst/>
            <a:cxnLst/>
            <a:rect r="r" b="b" t="t" l="l"/>
            <a:pathLst>
              <a:path h="3479978" w="18288000">
                <a:moveTo>
                  <a:pt x="0" y="0"/>
                </a:moveTo>
                <a:lnTo>
                  <a:pt x="18288000" y="0"/>
                </a:lnTo>
                <a:lnTo>
                  <a:pt x="18288000" y="3479978"/>
                </a:lnTo>
                <a:lnTo>
                  <a:pt x="0" y="347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427321" cy="1427321"/>
            <a:chOff x="0" y="0"/>
            <a:chExt cx="1903095" cy="19030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3095" cy="1903095"/>
            </a:xfrm>
            <a:custGeom>
              <a:avLst/>
              <a:gdLst/>
              <a:ahLst/>
              <a:cxnLst/>
              <a:rect r="r" b="b" t="t" l="l"/>
              <a:pathLst>
                <a:path h="1903095" w="1903095">
                  <a:moveTo>
                    <a:pt x="0" y="0"/>
                  </a:moveTo>
                  <a:lnTo>
                    <a:pt x="1903095" y="0"/>
                  </a:lnTo>
                  <a:lnTo>
                    <a:pt x="1903095" y="1903095"/>
                  </a:lnTo>
                  <a:lnTo>
                    <a:pt x="0" y="1903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95356" y="9057494"/>
            <a:ext cx="16242382" cy="702526"/>
          </a:xfrm>
          <a:custGeom>
            <a:avLst/>
            <a:gdLst/>
            <a:ahLst/>
            <a:cxnLst/>
            <a:rect r="r" b="b" t="t" l="l"/>
            <a:pathLst>
              <a:path h="702526" w="16242382">
                <a:moveTo>
                  <a:pt x="0" y="0"/>
                </a:moveTo>
                <a:lnTo>
                  <a:pt x="16242382" y="0"/>
                </a:lnTo>
                <a:lnTo>
                  <a:pt x="16242382" y="702526"/>
                </a:lnTo>
                <a:lnTo>
                  <a:pt x="0" y="7025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123176"/>
            <a:ext cx="5057368" cy="3893737"/>
          </a:xfrm>
          <a:custGeom>
            <a:avLst/>
            <a:gdLst/>
            <a:ahLst/>
            <a:cxnLst/>
            <a:rect r="r" b="b" t="t" l="l"/>
            <a:pathLst>
              <a:path h="3893737" w="5057368">
                <a:moveTo>
                  <a:pt x="0" y="0"/>
                </a:moveTo>
                <a:lnTo>
                  <a:pt x="5057368" y="0"/>
                </a:lnTo>
                <a:lnTo>
                  <a:pt x="5057368" y="3893737"/>
                </a:lnTo>
                <a:lnTo>
                  <a:pt x="0" y="38937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985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13781" y="2285286"/>
            <a:ext cx="686044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isso afeta o Consumidor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46120" y="3457289"/>
            <a:ext cx="12413180" cy="13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499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Por outro lado, temos a situação dos consumidores que, perante a essa suspensão, tendem a perder mais. A frequência de 700Mhz se destaca por ser ótima na propagação de sinal através de edifícios e se mantém mesmo em distâncias longas.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46120" y="5055632"/>
            <a:ext cx="12664850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499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Extendendo essa visão para a área rural e estradas, vê-se também que grande parte das pessoas nesses locais sofrem com a dificuldade de terem uma boa qualidade de internet. Com a paralisação, pessoas dessa regiões continuam sem boa conexão por mais tempo.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46120" y="7063845"/>
            <a:ext cx="12664850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499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Por fim, na parte dos investidores das empresas de telecomunicação eles são desencorajados a investir nessas empresas e isso gera acomodação para as potências do ramo, já que se eles, ao não possuir concorrentes, não necessitam gastar mais dinheiro com estratégias para manter os clientes comsumindo.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69360" y="827961"/>
            <a:ext cx="614928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10500">
                <a:solidFill>
                  <a:srgbClr val="00CC08"/>
                </a:solidFill>
                <a:latin typeface="Arial Bold"/>
                <a:ea typeface="Arial Bold"/>
                <a:cs typeface="Arial Bold"/>
                <a:sym typeface="Arial Bold"/>
                <a:hlinkClick r:id="rId8" action="ppaction://hlinksldjump"/>
              </a:rPr>
              <a:t>JUDICIAL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44656"/>
            <a:ext cx="18288000" cy="3479978"/>
          </a:xfrm>
          <a:custGeom>
            <a:avLst/>
            <a:gdLst/>
            <a:ahLst/>
            <a:cxnLst/>
            <a:rect r="r" b="b" t="t" l="l"/>
            <a:pathLst>
              <a:path h="3479978" w="18288000">
                <a:moveTo>
                  <a:pt x="0" y="0"/>
                </a:moveTo>
                <a:lnTo>
                  <a:pt x="18288000" y="0"/>
                </a:lnTo>
                <a:lnTo>
                  <a:pt x="18288000" y="3479978"/>
                </a:lnTo>
                <a:lnTo>
                  <a:pt x="0" y="347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427321" cy="1427321"/>
            <a:chOff x="0" y="0"/>
            <a:chExt cx="1903095" cy="19030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3095" cy="1903095"/>
            </a:xfrm>
            <a:custGeom>
              <a:avLst/>
              <a:gdLst/>
              <a:ahLst/>
              <a:cxnLst/>
              <a:rect r="r" b="b" t="t" l="l"/>
              <a:pathLst>
                <a:path h="1903095" w="1903095">
                  <a:moveTo>
                    <a:pt x="0" y="0"/>
                  </a:moveTo>
                  <a:lnTo>
                    <a:pt x="1903095" y="0"/>
                  </a:lnTo>
                  <a:lnTo>
                    <a:pt x="1903095" y="1903095"/>
                  </a:lnTo>
                  <a:lnTo>
                    <a:pt x="0" y="1903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14406" y="9049912"/>
            <a:ext cx="16242382" cy="702526"/>
          </a:xfrm>
          <a:custGeom>
            <a:avLst/>
            <a:gdLst/>
            <a:ahLst/>
            <a:cxnLst/>
            <a:rect r="r" b="b" t="t" l="l"/>
            <a:pathLst>
              <a:path h="702526" w="16242382">
                <a:moveTo>
                  <a:pt x="0" y="0"/>
                </a:moveTo>
                <a:lnTo>
                  <a:pt x="16242382" y="0"/>
                </a:lnTo>
                <a:lnTo>
                  <a:pt x="16242382" y="702526"/>
                </a:lnTo>
                <a:lnTo>
                  <a:pt x="0" y="7025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14406" y="3569432"/>
            <a:ext cx="5246370" cy="524637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734820" y="1196683"/>
            <a:ext cx="8559105" cy="14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58"/>
              </a:lnSpc>
            </a:pPr>
            <a:r>
              <a:rPr lang="en-US" b="true" sz="10458">
                <a:solidFill>
                  <a:srgbClr val="00CC08"/>
                </a:solidFill>
                <a:latin typeface="Arial Bold"/>
                <a:ea typeface="Arial Bold"/>
                <a:cs typeface="Arial Bold"/>
                <a:sym typeface="Arial Bold"/>
                <a:hlinkClick r:id="rId8" action="ppaction://hlinksldjump"/>
              </a:rPr>
              <a:t>CONCLUSÃO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61564" y="4446665"/>
            <a:ext cx="9697736" cy="3368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98"/>
              </a:lnSpc>
            </a:pPr>
            <a:r>
              <a:rPr lang="en-US" sz="3598" spc="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 a pesquisa realizada para elaboração desse trabalho, é totalmente possível concluir que as decisões judiciais moldam diretamente a vida dos cidadãos, os negócios e a economia de um país.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44666"/>
            <a:ext cx="18288000" cy="3326178"/>
          </a:xfrm>
          <a:custGeom>
            <a:avLst/>
            <a:gdLst/>
            <a:ahLst/>
            <a:cxnLst/>
            <a:rect r="r" b="b" t="t" l="l"/>
            <a:pathLst>
              <a:path h="3326178" w="18288000">
                <a:moveTo>
                  <a:pt x="0" y="0"/>
                </a:moveTo>
                <a:lnTo>
                  <a:pt x="18288000" y="0"/>
                </a:lnTo>
                <a:lnTo>
                  <a:pt x="18288000" y="3326178"/>
                </a:lnTo>
                <a:lnTo>
                  <a:pt x="0" y="3326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65054" y="1103081"/>
            <a:ext cx="9557891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10500">
                <a:solidFill>
                  <a:srgbClr val="00CC08"/>
                </a:solidFill>
                <a:latin typeface="Arial Bold"/>
                <a:ea typeface="Arial Bold"/>
                <a:cs typeface="Arial Bold"/>
                <a:sym typeface="Arial Bold"/>
                <a:hlinkClick r:id="rId4" action="ppaction://hlinksldjump"/>
              </a:rPr>
              <a:t>REFERÊNCIAS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71323" y="6545361"/>
            <a:ext cx="13545353" cy="1327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8"/>
              </a:lnSpc>
            </a:pPr>
            <a:r>
              <a:rPr lang="en-US" sz="2399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AGÊNCIA NACIONAL DE TELECOMUNICAÇÕES (ANATEL). Acórdão nº 123/2026 - Conselho Diretor. Brasília, DF: Anatel, 2026. Disponível em: </a:t>
            </a:r>
            <a:r>
              <a:rPr lang="en-US" sz="2399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 tooltip="https://sistemas.anatel.gov.br/anexar-api/publico/anexos/download/ef259d4d57d99b909a97996592360f30"/>
              </a:rPr>
              <a:t>https://sistemas.anatel.gov.br/anexar-api/publico/anexos/download/ef259d4d57d99b909a97996592360f30</a:t>
            </a:r>
            <a:r>
              <a:rPr lang="en-US" sz="2399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05 Junho.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71328" y="4581893"/>
            <a:ext cx="13545353" cy="8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Díaz, Rachel. “Justiça Suspende Leilão de 700 MHz Da Anatel.” Revista Oeste, 30 Abr. 2026, </a:t>
            </a:r>
            <a:r>
              <a:rPr lang="en-US" sz="2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 tooltip="https://revistaoeste.com/economia/justica-suspende-leilao-de-700-mhz-da-anatel/"/>
              </a:rPr>
              <a:t>revistaoeste.com/economia/justica-suspende-leilao-de-700-mhz-da-anatel/</a:t>
            </a:r>
            <a:r>
              <a:rPr lang="en-US" sz="2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04 Junho 2026.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427321" cy="1427321"/>
            <a:chOff x="0" y="0"/>
            <a:chExt cx="1903095" cy="19030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3095" cy="1903095"/>
            </a:xfrm>
            <a:custGeom>
              <a:avLst/>
              <a:gdLst/>
              <a:ahLst/>
              <a:cxnLst/>
              <a:rect r="r" b="b" t="t" l="l"/>
              <a:pathLst>
                <a:path h="1903095" w="1903095">
                  <a:moveTo>
                    <a:pt x="0" y="0"/>
                  </a:moveTo>
                  <a:lnTo>
                    <a:pt x="1903095" y="0"/>
                  </a:lnTo>
                  <a:lnTo>
                    <a:pt x="1903095" y="1903095"/>
                  </a:lnTo>
                  <a:lnTo>
                    <a:pt x="0" y="1903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2814" y="9078487"/>
            <a:ext cx="16242382" cy="702526"/>
          </a:xfrm>
          <a:custGeom>
            <a:avLst/>
            <a:gdLst/>
            <a:ahLst/>
            <a:cxnLst/>
            <a:rect r="r" b="b" t="t" l="l"/>
            <a:pathLst>
              <a:path h="702526" w="16242382">
                <a:moveTo>
                  <a:pt x="0" y="0"/>
                </a:moveTo>
                <a:lnTo>
                  <a:pt x="16242382" y="0"/>
                </a:lnTo>
                <a:lnTo>
                  <a:pt x="16242382" y="702526"/>
                </a:lnTo>
                <a:lnTo>
                  <a:pt x="0" y="7025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44666"/>
            <a:ext cx="18288000" cy="3348771"/>
          </a:xfrm>
          <a:custGeom>
            <a:avLst/>
            <a:gdLst/>
            <a:ahLst/>
            <a:cxnLst/>
            <a:rect r="r" b="b" t="t" l="l"/>
            <a:pathLst>
              <a:path h="3348771" w="18288000">
                <a:moveTo>
                  <a:pt x="0" y="0"/>
                </a:moveTo>
                <a:lnTo>
                  <a:pt x="18288000" y="0"/>
                </a:lnTo>
                <a:lnTo>
                  <a:pt x="18288000" y="3348771"/>
                </a:lnTo>
                <a:lnTo>
                  <a:pt x="0" y="33487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427321" cy="1427321"/>
            <a:chOff x="0" y="0"/>
            <a:chExt cx="1903095" cy="19030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3095" cy="1903095"/>
            </a:xfrm>
            <a:custGeom>
              <a:avLst/>
              <a:gdLst/>
              <a:ahLst/>
              <a:cxnLst/>
              <a:rect r="r" b="b" t="t" l="l"/>
              <a:pathLst>
                <a:path h="1903095" w="1903095">
                  <a:moveTo>
                    <a:pt x="0" y="0"/>
                  </a:moveTo>
                  <a:lnTo>
                    <a:pt x="1903095" y="0"/>
                  </a:lnTo>
                  <a:lnTo>
                    <a:pt x="1903095" y="1903095"/>
                  </a:lnTo>
                  <a:lnTo>
                    <a:pt x="0" y="1903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2814" y="9062304"/>
            <a:ext cx="16242382" cy="702526"/>
          </a:xfrm>
          <a:custGeom>
            <a:avLst/>
            <a:gdLst/>
            <a:ahLst/>
            <a:cxnLst/>
            <a:rect r="r" b="b" t="t" l="l"/>
            <a:pathLst>
              <a:path h="702526" w="16242382">
                <a:moveTo>
                  <a:pt x="0" y="0"/>
                </a:moveTo>
                <a:lnTo>
                  <a:pt x="16242382" y="0"/>
                </a:lnTo>
                <a:lnTo>
                  <a:pt x="16242382" y="702526"/>
                </a:lnTo>
                <a:lnTo>
                  <a:pt x="0" y="7025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85435" y="459057"/>
            <a:ext cx="11125810" cy="277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10500">
                <a:solidFill>
                  <a:srgbClr val="00CC08"/>
                </a:solidFill>
                <a:latin typeface="Arial Bold"/>
                <a:ea typeface="Arial Bold"/>
                <a:cs typeface="Arial Bold"/>
                <a:sym typeface="Arial Bold"/>
                <a:hlinkClick r:id="rId7" action="ppaction://hlinksldjump"/>
              </a:rPr>
              <a:t>OBRIGADO</a:t>
            </a:r>
          </a:p>
          <a:p>
            <a:pPr algn="ctr">
              <a:lnSpc>
                <a:spcPts val="10500"/>
              </a:lnSpc>
            </a:pPr>
            <a:r>
              <a:rPr lang="en-US" b="true" sz="10500">
                <a:solidFill>
                  <a:srgbClr val="00CC08"/>
                </a:solidFill>
                <a:latin typeface="Arial Bold"/>
                <a:ea typeface="Arial Bold"/>
                <a:cs typeface="Arial Bold"/>
                <a:sym typeface="Arial Bold"/>
                <a:hlinkClick r:id="rId7" action="ppaction://hlinksldjump"/>
              </a:rPr>
              <a:t>PELA ATENÇÃO!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7321" y="3614823"/>
            <a:ext cx="8319640" cy="493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00"/>
              </a:lnSpc>
            </a:pPr>
            <a:r>
              <a:rPr lang="en-US" sz="3600" spc="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Integrantes: </a:t>
            </a:r>
          </a:p>
          <a:p>
            <a:pPr algn="just">
              <a:lnSpc>
                <a:spcPts val="5400"/>
              </a:lnSpc>
            </a:pPr>
          </a:p>
          <a:p>
            <a:pPr algn="just" marL="822960" indent="-274320" lvl="2">
              <a:lnSpc>
                <a:spcPts val="5400"/>
              </a:lnSpc>
              <a:buFont typeface="Arial"/>
              <a:buChar char="⚬"/>
            </a:pPr>
            <a:r>
              <a:rPr lang="en-US" sz="3600" spc="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Caio Ribeiro Nakashima</a:t>
            </a:r>
          </a:p>
          <a:p>
            <a:pPr algn="just" marL="822960" indent="-274320" lvl="2">
              <a:lnSpc>
                <a:spcPts val="5400"/>
              </a:lnSpc>
              <a:buFont typeface="Arial"/>
              <a:buChar char="⚬"/>
            </a:pPr>
            <a:r>
              <a:rPr lang="en-US" sz="3600" spc="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Luis Guilherme Viana Camargo</a:t>
            </a:r>
          </a:p>
          <a:p>
            <a:pPr algn="just" marL="822960" indent="-274320" lvl="2">
              <a:lnSpc>
                <a:spcPts val="5400"/>
              </a:lnSpc>
              <a:buFont typeface="Arial"/>
              <a:buChar char="⚬"/>
            </a:pPr>
            <a:r>
              <a:rPr lang="en-US" sz="3600" spc="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Matheus Fioratti</a:t>
            </a:r>
          </a:p>
          <a:p>
            <a:pPr algn="just" marL="822960" indent="-274320" lvl="2">
              <a:lnSpc>
                <a:spcPts val="5400"/>
              </a:lnSpc>
              <a:buFont typeface="Arial"/>
              <a:buChar char="⚬"/>
            </a:pPr>
            <a:r>
              <a:rPr lang="en-US" sz="3600" spc="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Mikael Deivid Pereira Matias</a:t>
            </a:r>
          </a:p>
          <a:p>
            <a:pPr algn="just" marL="822960" indent="-274320" lvl="2">
              <a:lnSpc>
                <a:spcPts val="54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DAHOLCSPLI8</dc:identifier>
  <dcterms:modified xsi:type="dcterms:W3CDTF">2011-08-01T06:04:30Z</dcterms:modified>
  <cp:revision>1</cp:revision>
  <dc:title>Judicial_final</dc:title>
</cp:coreProperties>
</file>